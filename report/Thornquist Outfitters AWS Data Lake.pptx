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  <p:embeddedFont>
      <p:font typeface="JetBrains Mono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4521398"/>
            <a:ext cx="1285875" cy="247650"/>
          </a:xfrm>
          <a:prstGeom prst="roundRect">
            <a:avLst>
              <a:gd name="adj" fmla="val 23076"/>
            </a:avLst>
          </a:prstGeom>
          <a:solidFill>
            <a:srgbClr val="10202F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133600" y="4521398"/>
            <a:ext cx="1543050" cy="247650"/>
          </a:xfrm>
          <a:prstGeom prst="roundRect">
            <a:avLst>
              <a:gd name="adj" fmla="val 23076"/>
            </a:avLst>
          </a:prstGeom>
          <a:solidFill>
            <a:srgbClr val="10202F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05250" y="4521398"/>
            <a:ext cx="1990725" cy="247650"/>
          </a:xfrm>
          <a:prstGeom prst="roundRect">
            <a:avLst>
              <a:gd name="adj" fmla="val 23076"/>
            </a:avLst>
          </a:prstGeom>
          <a:solidFill>
            <a:srgbClr val="10202F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88073"/>
            <a:ext cx="142875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375" y="4588073"/>
            <a:ext cx="13335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025" y="4588073"/>
            <a:ext cx="114300" cy="114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125" y="2088951"/>
            <a:ext cx="10120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ENTERPRISE AWS SOLUTION ARCHITECTURE V2.4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327076"/>
            <a:ext cx="8601075" cy="1089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>
                <a:solidFill>
                  <a:srgbClr val="FFFFFF"/>
                </a:solidFill>
                <a:latin typeface="Inter"/>
              </a:rPr>
              <a:t>Thornquist Outfitters</a:t>
            </a:r>
            <a:r>
              <a:t>
</a:t>
            </a:r>
            <a:r>
              <a:rPr sz="3900" b="1" i="0" u="none">
                <a:solidFill>
                  <a:srgbClr val="38BDF8"/>
                </a:solidFill>
                <a:latin typeface="Inter"/>
              </a:rPr>
              <a:t>Data Lake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606998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Standardizing heterogeneous retail streams into a serverless, multi-zone analytical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4559498"/>
            <a:ext cx="1190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AWS US-East-1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8850" y="4559498"/>
            <a:ext cx="1447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4-Zone S3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4559498"/>
            <a:ext cx="1895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Lake Formation Protected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3038475"/>
            <a:ext cx="3524250" cy="1571625"/>
          </a:xfrm>
          <a:prstGeom prst="roundRect">
            <a:avLst>
              <a:gd name="adj" fmla="val 7272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3875" y="3038475"/>
            <a:ext cx="3524250" cy="1571625"/>
          </a:xfrm>
          <a:prstGeom prst="roundRect">
            <a:avLst>
              <a:gd name="adj" fmla="val 7272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8625" y="3038475"/>
            <a:ext cx="3524250" cy="1571625"/>
          </a:xfrm>
          <a:prstGeom prst="roundRect">
            <a:avLst>
              <a:gd name="adj" fmla="val 7272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223837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90887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290887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0" y="3290887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01. CONTEXT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262" y="704850"/>
            <a:ext cx="11234737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Enterprise Data Modernization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76600"/>
            <a:ext cx="35242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Multi-Source Retail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571875"/>
            <a:ext cx="314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Unifies sales data from 40 daily POS retail outlets, web/mobile e-commerce streams, and legacy on-premises customer databases into a single cloud ecosystem.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3276600"/>
            <a:ext cx="35433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Automated 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71875"/>
            <a:ext cx="314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Enforces a strict 5-rule quality gate using AWS Glue ETL workflows, automatically isolating non-compliant records into quarantine before standardizing.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3276600"/>
            <a:ext cx="356235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Serverless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0" y="3571875"/>
            <a:ext cx="3143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Empowers business analysts with low-latency SQL querying via Amazon Athena, decoupled from infrastructure management and backed by Lake Formation access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714625"/>
            <a:ext cx="2332434" cy="2219325"/>
          </a:xfrm>
          <a:prstGeom prst="roundRect">
            <a:avLst>
              <a:gd name="adj" fmla="val 4291"/>
            </a:avLst>
          </a:prstGeom>
          <a:solidFill>
            <a:srgbClr val="11182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103959" y="2714625"/>
            <a:ext cx="2332583" cy="2219325"/>
          </a:xfrm>
          <a:prstGeom prst="roundRect">
            <a:avLst>
              <a:gd name="adj" fmla="val 4291"/>
            </a:avLst>
          </a:prstGeom>
          <a:solidFill>
            <a:srgbClr val="11182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88942" y="2714625"/>
            <a:ext cx="3498949" cy="2219325"/>
          </a:xfrm>
          <a:prstGeom prst="roundRect">
            <a:avLst>
              <a:gd name="adj" fmla="val 4291"/>
            </a:avLst>
          </a:prstGeom>
          <a:solidFill>
            <a:srgbClr val="111827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40291" y="2714625"/>
            <a:ext cx="2332434" cy="2219325"/>
          </a:xfrm>
          <a:prstGeom prst="roundRect">
            <a:avLst>
              <a:gd name="adj" fmla="val 4291"/>
            </a:avLst>
          </a:prstGeom>
          <a:solidFill>
            <a:srgbClr val="11182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1050" y="3133725"/>
            <a:ext cx="2008584" cy="4953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050" y="3705225"/>
            <a:ext cx="2008584" cy="4953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1050" y="4276725"/>
            <a:ext cx="2008584" cy="4953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5884" y="3133725"/>
            <a:ext cx="2008733" cy="4953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65884" y="3705225"/>
            <a:ext cx="2008733" cy="4953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65884" y="4276725"/>
            <a:ext cx="2008733" cy="49530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50867" y="3495675"/>
            <a:ext cx="3175099" cy="638175"/>
          </a:xfrm>
          <a:prstGeom prst="roundRect">
            <a:avLst>
              <a:gd name="adj" fmla="val 8955"/>
            </a:avLst>
          </a:prstGeom>
          <a:solidFill>
            <a:srgbClr val="112830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2216" y="3133725"/>
            <a:ext cx="2008584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02216" y="3476625"/>
            <a:ext cx="2008584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02216" y="3819525"/>
            <a:ext cx="2008584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50867" y="3133725"/>
            <a:ext cx="750986" cy="24765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59004" y="3133725"/>
            <a:ext cx="750986" cy="24765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7141" y="3133725"/>
            <a:ext cx="750986" cy="24765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75277" y="3133725"/>
            <a:ext cx="750986" cy="24765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50867" y="4210050"/>
            <a:ext cx="1558974" cy="266700"/>
          </a:xfrm>
          <a:prstGeom prst="roundRect">
            <a:avLst>
              <a:gd name="adj" fmla="val 14285"/>
            </a:avLst>
          </a:prstGeom>
          <a:solidFill>
            <a:srgbClr val="271C2A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86042" y="4210050"/>
            <a:ext cx="1539924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252412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02. END-TO-END TOPOLOGY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837" y="704850"/>
            <a:ext cx="11206162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System Architecture &amp; Data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976" y="2876550"/>
            <a:ext cx="25107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1. SOURCE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226" y="3228975"/>
            <a:ext cx="232023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POS Sales CSV</a:t>
            </a:r>
            <a:r>
              <a:t>
</a:t>
            </a:r>
            <a:r>
              <a:rPr sz="825" b="1" i="0" u="none">
                <a:solidFill>
                  <a:srgbClr val="94A3B8"/>
                </a:solidFill>
                <a:latin typeface="Inter"/>
              </a:rPr>
              <a:t>40 Stores (Daily)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226" y="3800475"/>
            <a:ext cx="232023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E-Commerce JSON</a:t>
            </a:r>
            <a:r>
              <a:t>
</a:t>
            </a:r>
            <a:r>
              <a:rPr sz="825" b="1" i="0" u="none">
                <a:solidFill>
                  <a:srgbClr val="94A3B8"/>
                </a:solidFill>
                <a:latin typeface="Inter"/>
              </a:rPr>
              <a:t>Web &amp; Mobile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226" y="4371975"/>
            <a:ext cx="232023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Customer CSV</a:t>
            </a:r>
            <a:r>
              <a:t>
</a:t>
            </a:r>
            <a:r>
              <a:rPr sz="825" b="1" i="0" u="none">
                <a:solidFill>
                  <a:srgbClr val="94A3B8"/>
                </a:solidFill>
                <a:latin typeface="Inter"/>
              </a:rPr>
              <a:t>Legacy On-Prem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4792" y="2876550"/>
            <a:ext cx="251091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2. INGESTION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0042" y="3228975"/>
            <a:ext cx="232041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Manual S3 Upload</a:t>
            </a:r>
            <a:r>
              <a:t>
</a:t>
            </a:r>
            <a:r>
              <a:rPr sz="825" b="1" i="0" u="none">
                <a:solidFill>
                  <a:srgbClr val="94A3B8"/>
                </a:solidFill>
                <a:latin typeface="Inter"/>
              </a:rPr>
              <a:t>Direct CSV Bucket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10042" y="3800475"/>
            <a:ext cx="232041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AWS Lambda</a:t>
            </a:r>
            <a:r>
              <a:t>
</a:t>
            </a:r>
            <a:r>
              <a:rPr sz="825" b="1" i="0" u="none">
                <a:solidFill>
                  <a:srgbClr val="94A3B8"/>
                </a:solidFill>
                <a:latin typeface="Inter"/>
              </a:rPr>
              <a:t>Event JSON Handler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0042" y="4371975"/>
            <a:ext cx="232041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1F5F9"/>
                </a:solidFill>
                <a:latin typeface="Inter"/>
              </a:rPr>
              <a:t>Glue ETL Extract</a:t>
            </a:r>
            <a:r>
              <a:t>
</a:t>
            </a:r>
            <a:r>
              <a:rPr sz="825" b="1" i="0" u="none">
                <a:solidFill>
                  <a:srgbClr val="94A3B8"/>
                </a:solidFill>
                <a:latin typeface="Inter"/>
              </a:rPr>
              <a:t>Weekly Batch Pull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3980" y="2876550"/>
            <a:ext cx="396887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3. S3 DATA LAKE (4-ZONE)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6117" y="3590925"/>
            <a:ext cx="3079849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0B981"/>
                </a:solidFill>
                <a:latin typeface="Inter"/>
              </a:rPr>
              <a:t>AWS Glue Data Quality Gate</a:t>
            </a:r>
            <a:r>
              <a:t>
</a:t>
            </a:r>
            <a:r>
              <a:rPr sz="900" b="0" i="0" u="none">
                <a:solidFill>
                  <a:srgbClr val="10B981"/>
                </a:solidFill>
                <a:latin typeface="Inter"/>
              </a:rPr>
              <a:t> 5 Rules Active (Schema, Nulls, Uniqueness, Referential, Boundary)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1143" y="2876550"/>
            <a:ext cx="25107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4. GOVERNANCE &amp; 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7343" y="3209925"/>
            <a:ext cx="235833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IAM / Lake 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7343" y="3552825"/>
            <a:ext cx="235833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Lifecycle Rules (Glacier)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7343" y="3895725"/>
            <a:ext cx="235833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CloudWatch DQ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5142" y="3190875"/>
            <a:ext cx="92243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Landing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279" y="3190875"/>
            <a:ext cx="92243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Raw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1416" y="3190875"/>
            <a:ext cx="92243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Trusted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9552" y="3190875"/>
            <a:ext cx="92243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Curated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3145" y="4267200"/>
            <a:ext cx="18344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CA5A5"/>
                </a:solidFill>
                <a:latin typeface="Inter"/>
              </a:rPr>
              <a:t>Quarantine Zone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0701" y="4267200"/>
            <a:ext cx="1810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1F5F9"/>
                </a:solidFill>
                <a:latin typeface="Inter"/>
              </a:rPr>
              <a:t>DQ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3005137"/>
            <a:ext cx="1481435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0560" y="3005137"/>
            <a:ext cx="2608659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09219" y="3005137"/>
            <a:ext cx="188461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93830" y="3005137"/>
            <a:ext cx="4979044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3419475"/>
            <a:ext cx="14814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00560" y="3419475"/>
            <a:ext cx="26086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219" y="3419475"/>
            <a:ext cx="18846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93830" y="3419475"/>
            <a:ext cx="49790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25" y="3819525"/>
            <a:ext cx="14814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00560" y="3819525"/>
            <a:ext cx="26086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219" y="3819525"/>
            <a:ext cx="18846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93830" y="3819525"/>
            <a:ext cx="49790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4219575"/>
            <a:ext cx="14814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00560" y="4219575"/>
            <a:ext cx="26086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219" y="4219575"/>
            <a:ext cx="18846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93830" y="4219575"/>
            <a:ext cx="49790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" y="4619625"/>
            <a:ext cx="14814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00560" y="4619625"/>
            <a:ext cx="26086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09219" y="4619625"/>
            <a:ext cx="18846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93830" y="4619625"/>
            <a:ext cx="49790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125" y="5019675"/>
            <a:ext cx="14814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00560" y="5019675"/>
            <a:ext cx="26086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09219" y="5019675"/>
            <a:ext cx="188461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93830" y="5019675"/>
            <a:ext cx="49790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252412" cy="2286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9125" y="2614612"/>
          <a:ext cx="10953748" cy="2419350"/>
        </p:xfrm>
        <a:graphic>
          <a:graphicData uri="http://schemas.openxmlformats.org/drawingml/2006/table">
            <a:tbl>
              <a:tblPr/>
              <a:tblGrid>
                <a:gridCol w="1481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9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Zone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S3 URI 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Storage Format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Access Policy &amp; Governance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Landing Zone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s3://thornquist/landing/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Raw CSV / 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Write-only for Ingestion Lambda/S3 upload; auto-purged after 7 days.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Raw Zone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s3://thornquist/raw/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Immutable Native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Read-only for Glue ETL; stores original source records for auditability.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CA5A5"/>
                          </a:solidFill>
                          <a:latin typeface="Inter"/>
                        </a:rPr>
                        <a:t>Quarantine Zone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s3://thornquist/quarantine/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JSON + Error Metadata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Restricted to Data Engineers; stores failed records from Quality Gate.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Trusted Zone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s3://thornquist/trusted/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Standardized Parquet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Read-only for Curation Glue Jobs; contains schema-validated data.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Curated Zone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s3://thornquist/curated/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Partitioned Parquet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Accessible via Lake Formation; optimized for Athena querying.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03. STORAGE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837" y="704850"/>
            <a:ext cx="11206162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4-Zone S3 Storage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562225"/>
            <a:ext cx="5324475" cy="2524125"/>
          </a:xfrm>
          <a:prstGeom prst="roundRect">
            <a:avLst>
              <a:gd name="adj" fmla="val 4528"/>
            </a:avLst>
          </a:prstGeom>
          <a:solidFill>
            <a:srgbClr val="151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62225"/>
            <a:ext cx="5324475" cy="2524125"/>
          </a:xfrm>
          <a:prstGeom prst="roundRect">
            <a:avLst>
              <a:gd name="adj" fmla="val 4528"/>
            </a:avLst>
          </a:prstGeom>
          <a:solidFill>
            <a:srgbClr val="151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9125" y="5076825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2562225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" y="2562225"/>
            <a:ext cx="38100" cy="25241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34075" y="2562225"/>
            <a:ext cx="9525" cy="25241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5076825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2562225"/>
            <a:ext cx="53244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8400" y="2562225"/>
            <a:ext cx="38100" cy="2524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63350" y="2562225"/>
            <a:ext cx="9525" cy="25241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223837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814637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814637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157537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424237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690937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957637"/>
            <a:ext cx="13335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224337"/>
            <a:ext cx="133350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04. QUALITY 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262" y="704850"/>
            <a:ext cx="11234737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5-Point Automated Data Quality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525" y="2800350"/>
            <a:ext cx="5757862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Quality Rule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00" y="2800350"/>
            <a:ext cx="54102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Execution &amp; Routing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095625"/>
            <a:ext cx="6024562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Completeness: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Rejects nulls in mandatory keys (transaction_id).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362325"/>
            <a:ext cx="6024562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Uniqueness: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Deduplicates transaction IDs across retail streams.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3629025"/>
            <a:ext cx="6024562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Referential Integrity: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Validates store IDs against master catalog.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3895725"/>
            <a:ext cx="6024562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Range Validation: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Ensures transaction amounts are non-negative.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" y="4162425"/>
            <a:ext cx="6024562" cy="2667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Schema Conformance: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Verifies datatype adherence for dates &amp; prices.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3095625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Inter"/>
              </a:rPr>
              <a:t>✓ Compliant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3324225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Converted to Snappy-compressed Parquet and written directly to s3://thornquist/trusted/.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3781425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Inter"/>
              </a:rPr>
              <a:t>✕ Non-Compliant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5100" y="4010025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Appended with failure reason codes and routed to s3://thornquist/quarantine/.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5100" y="4467225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📊 Operational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100" y="4695825"/>
            <a:ext cx="5676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Execution metrics logged in S3 for automated CloudWatch threshold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3005137"/>
            <a:ext cx="2666851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85976" y="3005137"/>
            <a:ext cx="2454026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40003" y="3005137"/>
            <a:ext cx="5832871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3419475"/>
            <a:ext cx="2666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85976" y="3419475"/>
            <a:ext cx="24540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40003" y="3419475"/>
            <a:ext cx="58328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819525"/>
            <a:ext cx="2666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85976" y="3819525"/>
            <a:ext cx="24540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40003" y="3819525"/>
            <a:ext cx="58328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4219575"/>
            <a:ext cx="2666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85976" y="4219575"/>
            <a:ext cx="24540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40003" y="4219575"/>
            <a:ext cx="58328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4619625"/>
            <a:ext cx="2666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5976" y="4619625"/>
            <a:ext cx="24540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40003" y="4619625"/>
            <a:ext cx="58328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5019675"/>
            <a:ext cx="2666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85976" y="5019675"/>
            <a:ext cx="245402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40003" y="5019675"/>
            <a:ext cx="583287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195262" cy="228600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9125" y="2614612"/>
          <a:ext cx="10953748" cy="2419350"/>
        </p:xfrm>
        <a:graphic>
          <a:graphicData uri="http://schemas.openxmlformats.org/drawingml/2006/table">
            <a:tbl>
              <a:tblPr/>
              <a:tblGrid>
                <a:gridCol w="2666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Artifact Identifier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Target Role / Resource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8BDF8"/>
                          </a:solidFill>
                          <a:latin typeface="JetBrains Mono"/>
                        </a:rPr>
                        <a:t>Access Level &amp; Permission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tq-ingestion-policy.json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Lambda / Ingestion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Write-only access to Landing and Raw S3 buckets.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tq-glue-etl-policy.json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AWS Glue Workflow 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Read from Raw; Write to Trusted, Quarantine, and Curated zones.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tq-analyst-policy.json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Data Analysts Group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Athena execution &amp; Read-only access restricted strictly to Curated Zone.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lf_permissions.json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AWS Lake Formation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Column-level filtering hiding PII (customer names/emails).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lf_grants.sh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Governance 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Inter"/>
                        </a:rPr>
                        <a:t>Automated grant script executing table permissions in Data Catalog.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05. SECURITY &amp;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687" y="704850"/>
            <a:ext cx="11263312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Fine-Grained Security &amp; Governance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957512"/>
            <a:ext cx="3524250" cy="1733550"/>
          </a:xfrm>
          <a:prstGeom prst="roundRect">
            <a:avLst>
              <a:gd name="adj" fmla="val 6593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3875" y="2957512"/>
            <a:ext cx="3524250" cy="1733550"/>
          </a:xfrm>
          <a:prstGeom prst="roundRect">
            <a:avLst>
              <a:gd name="adj" fmla="val 6593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8625" y="2957512"/>
            <a:ext cx="3524250" cy="1733550"/>
          </a:xfrm>
          <a:prstGeom prst="roundRect">
            <a:avLst>
              <a:gd name="adj" fmla="val 6593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7250" y="3195637"/>
            <a:ext cx="1076325" cy="247650"/>
          </a:xfrm>
          <a:prstGeom prst="roundRect">
            <a:avLst>
              <a:gd name="adj" fmla="val 23076"/>
            </a:avLst>
          </a:prstGeom>
          <a:solidFill>
            <a:srgbClr val="192C3F"/>
          </a:solidFill>
          <a:ln w="9525">
            <a:solidFill>
              <a:srgbClr val="1C3C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3195637"/>
            <a:ext cx="1009650" cy="247650"/>
          </a:xfrm>
          <a:prstGeom prst="roundRect">
            <a:avLst>
              <a:gd name="adj" fmla="val 23076"/>
            </a:avLst>
          </a:prstGeom>
          <a:solidFill>
            <a:srgbClr val="192C3F"/>
          </a:solidFill>
          <a:ln w="9525">
            <a:solidFill>
              <a:srgbClr val="1C3C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6750" y="3195637"/>
            <a:ext cx="1076325" cy="247650"/>
          </a:xfrm>
          <a:prstGeom prst="roundRect">
            <a:avLst>
              <a:gd name="adj" fmla="val 23076"/>
            </a:avLst>
          </a:prstGeom>
          <a:solidFill>
            <a:srgbClr val="192C3F"/>
          </a:solidFill>
          <a:ln w="9525">
            <a:solidFill>
              <a:srgbClr val="1C3C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223837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06. INGESTION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262" y="704850"/>
            <a:ext cx="11234737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Multi-Channel Ingestion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233737"/>
            <a:ext cx="981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Batch /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557587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POS Sales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852862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Automated daily push from 40 retail store locations. Direct S3 upload into the Landing Zone with 7-day retention lifecycle policies.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0" y="3233737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Event-Driven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57587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E-Commerce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52862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Real-time event processing via AWS Lambda JSON Handler, parsing digital transactions directly into standardized raw buckets.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233737"/>
            <a:ext cx="981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Scheduled ETL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0" y="3557587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Customer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0" y="3852862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Weekly AWS Glue extraction jobs fetching legacy on-premises customer profiles for enterprise analytics enrichment.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992933"/>
            <a:ext cx="5362575" cy="1662707"/>
          </a:xfrm>
          <a:prstGeom prst="roundRect">
            <a:avLst>
              <a:gd name="adj" fmla="val 6874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92933"/>
            <a:ext cx="5362575" cy="1662707"/>
          </a:xfrm>
          <a:prstGeom prst="roundRect">
            <a:avLst>
              <a:gd name="adj" fmla="val 6874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223837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45346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245346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569196"/>
            <a:ext cx="762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791991"/>
            <a:ext cx="762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014787"/>
            <a:ext cx="762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07. 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262" y="704850"/>
            <a:ext cx="11234737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Athena Query Engine &amp; BI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231058"/>
            <a:ext cx="5860256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Athena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3231058"/>
            <a:ext cx="545782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Executive BI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526333"/>
            <a:ext cx="6107906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Workgroup: thornquist-wg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749129"/>
            <a:ext cx="6107906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Catalog Database: thornquist_retail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971925"/>
            <a:ext cx="6107906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Partitioning: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Partitioned by channel, region, and sale_date.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4194720"/>
            <a:ext cx="6107906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Cost Management: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Hard scan caps enabled via CloudWatch quotas.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526333"/>
            <a:ext cx="5743575" cy="22279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Omnichannel Revenue: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POS vs E-Commerce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749129"/>
            <a:ext cx="5743575" cy="22279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Regional Sales: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Store performance &amp;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971925"/>
            <a:ext cx="5743575" cy="22279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Customer LTV: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Lifetime value &amp; segmentation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3138487"/>
            <a:ext cx="3524250" cy="1371600"/>
          </a:xfrm>
          <a:prstGeom prst="roundRect">
            <a:avLst>
              <a:gd name="adj" fmla="val 8333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3875" y="3138487"/>
            <a:ext cx="3524250" cy="1371600"/>
          </a:xfrm>
          <a:prstGeom prst="roundRect">
            <a:avLst>
              <a:gd name="adj" fmla="val 8333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8625" y="3138487"/>
            <a:ext cx="3524250" cy="1371600"/>
          </a:xfrm>
          <a:prstGeom prst="roundRect">
            <a:avLst>
              <a:gd name="adj" fmla="val 8333"/>
            </a:avLst>
          </a:prstGeom>
          <a:solidFill>
            <a:srgbClr val="151C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752475"/>
            <a:ext cx="195262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9090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390900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0" y="3390900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125" y="466725"/>
            <a:ext cx="11572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08. OPERATIONAL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687" y="704850"/>
            <a:ext cx="11263312" cy="3238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CloudWatch Alerts &amp; Incident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376612"/>
            <a:ext cx="35433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Health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671887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Continuous monitoring of Glue ETL execution times, Lambda invocation error counts, and storage thresholds across S3 zones.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3376612"/>
            <a:ext cx="35433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Quality Breaches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71887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Automated Amazon SNS notifications dispatched immediately to the data engineering team upon elevated quarantine drop rates.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3450" y="3376612"/>
            <a:ext cx="3543300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Lifecycle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0" y="3671887"/>
            <a:ext cx="31432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Automated transitions moving legacy audit logs and raw records to Amazon S3 Glacier to optimize enterprise cloud storage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71950" y="4150965"/>
            <a:ext cx="2266950" cy="381000"/>
          </a:xfrm>
          <a:prstGeom prst="roundRect">
            <a:avLst>
              <a:gd name="adj" fmla="val 15000"/>
            </a:avLst>
          </a:prstGeom>
          <a:solidFill>
            <a:srgbClr val="10202F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91300" y="4150965"/>
            <a:ext cx="1428750" cy="381000"/>
          </a:xfrm>
          <a:prstGeom prst="roundRect">
            <a:avLst>
              <a:gd name="adj" fmla="val 15000"/>
            </a:avLst>
          </a:prstGeom>
          <a:solidFill>
            <a:srgbClr val="0C2023"/>
          </a:solidFill>
          <a:ln w="9525">
            <a:solidFill>
              <a:srgbClr val="0C31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33500" y="2326034"/>
            <a:ext cx="952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8BDF8"/>
                </a:solidFill>
                <a:latin typeface="JetBrains Mono"/>
              </a:rPr>
              <a:t>09.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564159"/>
            <a:ext cx="1000125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Inter"/>
              </a:rPr>
              <a:t>Production Data Lake Operational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221384"/>
            <a:ext cx="9525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Thornquist Outfitters is equipped with a secure, scalable, and automated cloud data infrastructure ready for advanced machine learning and real-time operational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0031" y="4246215"/>
            <a:ext cx="24907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JetBrains Mono"/>
              </a:rPr>
              <a:t>Version v2.4 (Production)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4156" y="4246215"/>
            <a:ext cx="14430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0B981"/>
                </a:solidFill>
                <a:latin typeface="JetBrains Mono"/>
              </a:rPr>
              <a:t>Status: 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843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Inter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Robinson Alzate</dc:creator>
  <cp:keywords/>
  <dc:description>generated using python-pptx</dc:description>
  <cp:lastModifiedBy>Office</cp:lastModifiedBy>
  <cp:revision>1</cp:revision>
  <dcterms:created xsi:type="dcterms:W3CDTF">2013-01-27T09:14:16Z</dcterms:created>
  <dcterms:modified xsi:type="dcterms:W3CDTF">2026-10-23T22:49:25Z</dcterms:modified>
  <cp:category/>
</cp:coreProperties>
</file>